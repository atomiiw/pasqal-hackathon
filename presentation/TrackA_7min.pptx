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秒] 我们把 Track A 拆成两个问题。A1：给每个 bitstring 一个分数，分数最低的就是最好的合法分组。A3：把原子摆好，让机器的能量给出同样的分数，并且报告偏差有多大。A2 生成题目和标准答案，A4 调脉冲，这两个是支撑。右图是原子数：教科书做法加 slack 是 14/45/80；我们的直接 QUBO 是 4/30/60；最后的 seed model 只要 4/10/15。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秒] A2 是全自动的：每档三个 seed，生成器保证可行，附带一个可行分配作为证书，再用精确 DP 求出最优解，S 档还和 CPLEX、暴力枚举对过。图上颜色是最优分组，黑色方块是仓库。这些最优值就是后面所有 gap 的标准答案。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秒] 总 loss 是两部分：cluster 越小越好，需要优化；capacity 只要过及格线就行。cluster 那个括号只有两个客户同车时等于 1。capacity 用 (Σ demand·x − D/2)² 实现：不加 slack bit，合法分法分数是 0 到 1，超载至少 4，λ 让超载永远不划算。代价是：在合法分法里它仍然偏爱最平均的那个，M_seed2 因此在量子之前就损失 13.8%。M/L 档是三到四辆车，用一车一位的 one-hot，再加每个客户恰好一辆车的惩罚，形式一样。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 秒] 这是整场的转折。上面是我们展开后的 QUBO：每个原子一个数 a，每对原子一个数 b。下面是 Pasqal 在激光关掉时的能量：每个原子前面是 −δ，每对原子前面是 C6/r⁶。槽位一样，但自由度不一样。红色：我们每个客户的 a 都不同，激光只给一个 δ。橙色：b 有很多不同的值，只能靠距离去近似。绿色：符号都为正，这一点吻合。M、L 档上，红色那一项在合法答案上是常数，不影响排序；真正的问题是原子对这一项，有些对需要 0，而 1/r⁶ 永远不是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秒] 第八点：想要的耦合除以 C6 开六次方就是想要的距离，必须 ≥ 5 µm、半径 ≤ 38 µm。第七点：误差 = Pasqal 实际给的值减去我们想要的值。S 档 4 个原子能摆出合法布局，最优解在实际能量下的排名见左边。M 档是 30 个原子：所有原子对都想要 5 到 7 µm，每个原子要 11 个这么近的邻居，但平面上 5 µm 间距最多放下大约 6 个。实测最优解排到大约一万名，η≈1，等于没有信息。所以直接 QUBO 在 M、L 上摆不出来。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秒] 既然直接 QUBO 摆不出来，我们换一个问法，这正是赛题 4.1 节说的。每个客户一个原子，位就是“这个客户是不是一辆车的中心”。原子直接按客户地图等比例摆，所以原子对的耦合天然就是客户距离的函数，不需要拟合，误差很小；每个原子要的线性项也都一样，正好是一个全局 δ。离得近的客户互相阻塞，能量最低的状态就是 K 个分得最开的中心。容量不在能量里，放在一个很轻的经典解码里：其他客户依次加入最近的、还有空位的组。右图是 M_seed0 的最优答案和对应的原子布局。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秒] A4 就是把系统参数调好。标准的绝热扫描：Ω 先升后降，δ 从负扫到正。最终 δ 由几何直接算出，是“恰好 K 个中心最低”那个窗口的中点。Ω 决定阻塞半径，和时长一起每档做一次小网格；每个实例只再调一个 δ 的倍数。挑选标准按赛题 8.2：看命中最优的比例，而不是平均值。所有序列都通过 Pulser 的设备检查。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 秒] 结果：绿色是 model B 在模拟器上的表现，灰色是随机选 K 个中心再用同样的解码，这是公平的对照。我们看两件事：合法的 shot 比例，和命中已证明最优解的 shot 比例。蓝色是直接 QUBO，橙色是 Pasqal qubo-solver 的默认流程（用了 DMM）。失败的部分：直接 QUBO 在 M/L 摆不出来；均衡惩罚在量子之前就有损失。注意：light 解码对顺序敏感，S·2 上差别很大，我们如实报告。AI 帮助了代码、图和草稿，所有数字都来自 results 文件夹。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TRACK A  ·  CAPACITY-FEASIBLE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Two questions: what score, and where the atoms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One binary variable = one atom. Fewer variables means a smaller, more faithful register.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Track A  ·  DuQuantum × Pasqal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1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65"/>
              </a:spcAft>
            </a:pPr>
            <a:r>
              <a:rPr sz="1900" b="1">
                <a:solidFill>
                  <a:srgbClr val="1D4E89"/>
                </a:solidFill>
                <a:latin typeface="Arial"/>
              </a:rPr>
              <a:t>A1  ·  design the QUBO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0">
                <a:solidFill>
                  <a:srgbClr val="17202A"/>
                </a:solidFill>
                <a:latin typeface="Arial"/>
              </a:rPr>
              <a:t>Write one score for every bitstring.</a:t>
            </a:r>
          </a:p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0">
                <a:solidFill>
                  <a:srgbClr val="17202A"/>
                </a:solidFill>
                <a:latin typeface="Arial"/>
              </a:rPr>
              <a:t>Lowest score = best valid grouping.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65"/>
              </a:spcAft>
            </a:pPr>
            <a:r>
              <a:rPr sz="1900" b="1">
                <a:solidFill>
                  <a:srgbClr val="1D4E89"/>
                </a:solidFill>
                <a:latin typeface="Arial"/>
              </a:rPr>
              <a:t>A3  ·  lay out the atoms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0">
                <a:solidFill>
                  <a:srgbClr val="17202A"/>
                </a:solidFill>
                <a:latin typeface="Arial"/>
              </a:rPr>
              <a:t>Place atoms so the machine’s energy gives</a:t>
            </a:r>
          </a:p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0">
                <a:solidFill>
                  <a:srgbClr val="17202A"/>
                </a:solidFill>
                <a:latin typeface="Arial"/>
              </a:rPr>
              <a:t>the same scores, and report how far off it 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1">
                <a:solidFill>
                  <a:srgbClr val="17202A"/>
                </a:solidFill>
                <a:latin typeface="Arial"/>
              </a:rPr>
              <a:t>A2</a:t>
            </a:r>
            <a:r>
              <a:rPr sz="1350" b="0">
                <a:solidFill>
                  <a:srgbClr val="5E6A78"/>
                </a:solidFill>
                <a:latin typeface="Arial"/>
              </a:rPr>
              <a:t> instances and </a:t>
            </a:r>
            <a:r>
              <a:rPr sz="1350" b="1">
                <a:solidFill>
                  <a:srgbClr val="17202A"/>
                </a:solidFill>
                <a:latin typeface="Arial"/>
              </a:rPr>
              <a:t>A4</a:t>
            </a:r>
            <a:r>
              <a:rPr sz="1350" b="0">
                <a:solidFill>
                  <a:srgbClr val="5E6A78"/>
                </a:solidFill>
                <a:latin typeface="Arial"/>
              </a:rPr>
              <a:t> pulse support these two.</a:t>
            </a:r>
          </a:p>
        </p:txBody>
      </p:sp>
      <p:pic>
        <p:nvPicPr>
          <p:cNvPr id="14" name="Picture 13" descr="s1_atom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85855"/>
            <a:ext cx="5486400" cy="3092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A2  ·  INSTANCES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Nine certified instances, each with a proven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3 seeds per tier. Every instance ships a feasible certificate and an exact optimum (DP, checked by CPLEX).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Track A  ·  DuQuantum × Pasqal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2 / 8</a:t>
            </a:r>
          </a:p>
        </p:txBody>
      </p:sp>
      <p:pic>
        <p:nvPicPr>
          <p:cNvPr id="7" name="Picture 6" descr="s2_in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78" y="1828800"/>
            <a:ext cx="9864283" cy="3200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166360"/>
          <a:ext cx="111099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E6A7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E6A78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E6A78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E6A78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customers N / trucks K / capacity 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4 / 2 / 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10 / 3 / 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15 / 4 / 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proven optimum C*  (seed 0, cluster cost)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110.1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353.0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A"/>
                          </a:solidFill>
                          <a:latin typeface="Arial"/>
                        </a:rPr>
                        <a:t>475.4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0">
                <a:solidFill>
                  <a:srgbClr val="5E6A78"/>
                </a:solidFill>
                <a:latin typeface="Arial"/>
              </a:rPr>
              <a:t>Colour = truck in the proven optimum; black square = depot.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A1  ·  ① LOSS   ② CLUSTER   ③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Cluster is optimised; capacity only has to pass the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Example: customers A, B, C, D with demands 3, 4, 2, 3; 2 trucks of capacity 7. Bit 1 = truck 1, bit 0 = truck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Track A  ·  DuQuantum × Pasqal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3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30"/>
              </a:spcAft>
            </a:pPr>
            <a:r>
              <a:rPr sz="1800" b="1">
                <a:solidFill>
                  <a:srgbClr val="1D4E89"/>
                </a:solidFill>
                <a:latin typeface="Arial"/>
              </a:rPr>
              <a:t>①</a:t>
            </a:r>
          </a:p>
        </p:txBody>
      </p:sp>
      <p:pic>
        <p:nvPicPr>
          <p:cNvPr id="8" name="Picture 7" descr="eq1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38528"/>
            <a:ext cx="4459224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8529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30"/>
              </a:spcAft>
            </a:pPr>
            <a:r>
              <a:rPr sz="1800" b="1">
                <a:solidFill>
                  <a:srgbClr val="1D4E89"/>
                </a:solidFill>
                <a:latin typeface="Arial"/>
              </a:rPr>
              <a:t>②</a:t>
            </a:r>
          </a:p>
        </p:txBody>
      </p:sp>
      <p:pic>
        <p:nvPicPr>
          <p:cNvPr id="10" name="Picture 9" descr="eq2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24912"/>
            <a:ext cx="4041648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49300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5E6A78"/>
                </a:solidFill>
                <a:latin typeface="Arial"/>
              </a:rPr>
              <a:t>Pays dᵢⱼ only when i and j share a truck: the bracket is 1 for 00 and 11, 0 for 01 and 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15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30"/>
              </a:spcAft>
            </a:pPr>
            <a:r>
              <a:rPr sz="1800" b="1">
                <a:solidFill>
                  <a:srgbClr val="1D4E89"/>
                </a:solidFill>
                <a:latin typeface="Arial"/>
              </a:rPr>
              <a:t>③</a:t>
            </a:r>
          </a:p>
        </p:txBody>
      </p:sp>
      <p:pic>
        <p:nvPicPr>
          <p:cNvPr id="13" name="Picture 12" descr="eq3_capa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2935224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502920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5E6A78"/>
                </a:solidFill>
                <a:latin typeface="Arial"/>
              </a:rPr>
              <a:t>qᵢ = demand, D = total demand. No slack bits: valid splits score 0–1, an overloaded truck scores ≥ 4, and λ makes that too expensive.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3852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③ capacity on the example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66560" y="2331720"/>
          <a:ext cx="489204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80160"/>
                <a:gridCol w="914400"/>
                <a:gridCol w="1280160"/>
              </a:tblGrid>
              <a:tr h="3931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E6A78"/>
                          </a:solidFill>
                          <a:latin typeface="Arial"/>
                        </a:rPr>
                        <a:t>bits ABCD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E6A78"/>
                          </a:solidFill>
                          <a:latin typeface="Arial"/>
                        </a:rPr>
                        <a:t>loads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E6A78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E6A78"/>
                          </a:solidFill>
                          <a:latin typeface="Arial"/>
                        </a:rPr>
                        <a:t>valid?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6 |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7B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1100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7 | 5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7B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1010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5 | 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7B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1110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9 | 3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4231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1111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12 |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4231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766560" y="4846320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B42318"/>
                </a:solidFill>
                <a:latin typeface="Arial"/>
              </a:rPr>
              <a:t>Honest cost: among valid splits it still prefers 6 | 6. When the best split is unbalanced this loses objective (M_seed2: 13.8 %, before any quantum step).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A1 → A3  ·  ④ EXPANDED   ⑤ PASQAL ENERGY   ⑥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Same two slots, but not the same freedom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Expanded, our loss is one number per atom plus one per atom pair. Pasqal’s energy has exactly those two slots.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Track A  ·  DuQuantum × Pasqal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30"/>
              </a:spcAft>
            </a:pPr>
            <a:r>
              <a:rPr sz="1800" b="1">
                <a:solidFill>
                  <a:srgbClr val="1D4E89"/>
                </a:solidFill>
                <a:latin typeface="Arial"/>
              </a:rPr>
              <a:t>④</a:t>
            </a:r>
          </a:p>
        </p:txBody>
      </p:sp>
      <p:pic>
        <p:nvPicPr>
          <p:cNvPr id="8" name="Picture 7" descr="eq4_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38528"/>
            <a:ext cx="5148072" cy="697992"/>
          </a:xfrm>
          <a:prstGeom prst="rect">
            <a:avLst/>
          </a:prstGeom>
        </p:spPr>
      </p:pic>
      <p:pic>
        <p:nvPicPr>
          <p:cNvPr id="9" name="Picture 8" descr="eq4_coef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724912"/>
            <a:ext cx="4504944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3200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5E6A78"/>
                </a:solidFill>
                <a:latin typeface="Arial"/>
              </a:rPr>
              <a:t>Sᵢ = sum of customer i’s distances to everyone else.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30"/>
              </a:spcAft>
            </a:pPr>
            <a:r>
              <a:rPr sz="1800" b="1">
                <a:solidFill>
                  <a:srgbClr val="1D4E89"/>
                </a:solidFill>
                <a:latin typeface="Arial"/>
              </a:rPr>
              <a:t>⑤</a:t>
            </a:r>
          </a:p>
        </p:txBody>
      </p:sp>
      <p:pic>
        <p:nvPicPr>
          <p:cNvPr id="12" name="Picture 11" descr="eq5_pasq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94760"/>
            <a:ext cx="3633216" cy="8290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4709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5E6A78"/>
                </a:solidFill>
                <a:latin typeface="Arial"/>
              </a:rPr>
              <a:t>δ = laser detuning (one value for all atoms); r = distance between atoms.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720840" y="2011680"/>
          <a:ext cx="49377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63040"/>
                <a:gridCol w="1417320"/>
                <a:gridCol w="82296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E6A78"/>
                          </a:solidFill>
                          <a:latin typeface="Arial"/>
                        </a:rPr>
                        <a:t>⑥ term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E6A78"/>
                          </a:solidFill>
                          <a:latin typeface="Arial"/>
                        </a:rPr>
                        <a:t>our QUBO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E6A78"/>
                          </a:solidFill>
                          <a:latin typeface="Arial"/>
                        </a:rPr>
                        <a:t>Pasqal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E6A78"/>
                          </a:solidFill>
                          <a:latin typeface="Arial"/>
                        </a:rPr>
                        <a:t>match?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Arial"/>
                        </a:rPr>
                        <a:t>per atom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42318"/>
                          </a:solidFill>
                          <a:latin typeface="Arial"/>
                        </a:rPr>
                        <a:t>aᵢ, different per customer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Arial"/>
                        </a:rPr>
                        <a:t>−δ, the same for 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4231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Arial"/>
                        </a:rPr>
                        <a:t>per pair: value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Arial"/>
                        </a:rPr>
                        <a:t>bᵢⱼ, many different values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Arial"/>
                        </a:rPr>
                        <a:t>C₆ / r⁶, set by distance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Arial"/>
                        </a:rPr>
                        <a:t>approx.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Arial"/>
                        </a:rPr>
                        <a:t>per pair: sign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Arial"/>
                        </a:rPr>
                        <a:t>positive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Arial"/>
                        </a:rPr>
                        <a:t>positive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B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720840" y="443484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0">
                <a:solidFill>
                  <a:srgbClr val="17202A"/>
                </a:solidFill>
                <a:latin typeface="Arial"/>
              </a:rPr>
              <a:t>On M and L the per-atom mismatch is harmless on valid answers </a:t>
            </a:r>
            <a:r>
              <a:rPr sz="1350" b="0">
                <a:solidFill>
                  <a:srgbClr val="5E6A78"/>
                </a:solidFill>
                <a:latin typeface="Arial"/>
              </a:rPr>
              <a:t>(each customer has exactly one bit on, so Σ aᵢxᵢ is a constant). </a:t>
            </a:r>
          </a:p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0">
                <a:solidFill>
                  <a:srgbClr val="17202A"/>
                </a:solidFill>
                <a:latin typeface="Arial"/>
              </a:rPr>
              <a:t>The real problem is the pair slot: </a:t>
            </a:r>
            <a:r>
              <a:rPr sz="1350" b="1">
                <a:solidFill>
                  <a:srgbClr val="B42318"/>
                </a:solidFill>
                <a:latin typeface="Arial"/>
              </a:rPr>
              <a:t>some pairs want 0, but 1/r⁶ is never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A3  ·  ⑦ ERROR   ⑧ ATOM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Atom distance: S already distorts, M cannot be laid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Each wanted coupling gives a wanted distance. The question is whether all of them fit in one 2D layout at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Track A  ·  DuQuantum × Pasqal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30"/>
              </a:spcAft>
            </a:pPr>
            <a:r>
              <a:rPr sz="1800" b="1">
                <a:solidFill>
                  <a:srgbClr val="1D4E89"/>
                </a:solidFill>
                <a:latin typeface="Arial"/>
              </a:rPr>
              <a:t>⑧</a:t>
            </a:r>
          </a:p>
        </p:txBody>
      </p:sp>
      <p:pic>
        <p:nvPicPr>
          <p:cNvPr id="8" name="Picture 7" descr="eq8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2874264" cy="722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31920" y="202996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1">
                <a:solidFill>
                  <a:srgbClr val="B42318"/>
                </a:solidFill>
                <a:latin typeface="Arial"/>
              </a:rPr>
              <a:t>r ≥ 5 µm</a:t>
            </a:r>
          </a:p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1">
                <a:solidFill>
                  <a:srgbClr val="B42318"/>
                </a:solidFill>
                <a:latin typeface="Arial"/>
              </a:rPr>
              <a:t>radius ≤ 38 µm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30"/>
              </a:spcAft>
            </a:pPr>
            <a:r>
              <a:rPr sz="1800" b="1">
                <a:solidFill>
                  <a:srgbClr val="1D4E89"/>
                </a:solidFill>
                <a:latin typeface="Arial"/>
              </a:rPr>
              <a:t>⑦</a:t>
            </a:r>
          </a:p>
        </p:txBody>
      </p:sp>
      <p:pic>
        <p:nvPicPr>
          <p:cNvPr id="11" name="Picture 10" descr="eq7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0088"/>
            <a:ext cx="3953256" cy="3291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361188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5_S_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80" y="3703320"/>
            <a:ext cx="2449038" cy="2423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91840" y="3886200"/>
            <a:ext cx="2606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1">
                <a:solidFill>
                  <a:srgbClr val="B7791F"/>
                </a:solidFill>
                <a:latin typeface="Arial"/>
              </a:rPr>
              <a:t>S  ·  4 atoms</a:t>
            </a:r>
          </a:p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0">
                <a:solidFill>
                  <a:srgbClr val="17202A"/>
                </a:solidFill>
                <a:latin typeface="Arial"/>
              </a:rPr>
              <a:t>Legal layout found.</a:t>
            </a:r>
          </a:p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0">
                <a:solidFill>
                  <a:srgbClr val="17202A"/>
                </a:solidFill>
                <a:latin typeface="Arial"/>
              </a:rPr>
              <a:t>Coupling error η = 0.54</a:t>
            </a:r>
          </a:p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0">
                <a:solidFill>
                  <a:srgbClr val="B42318"/>
                </a:solidFill>
                <a:latin typeface="Arial"/>
              </a:rPr>
              <a:t>But the true optimum already ranks #8 of 16 under the realised energy.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5_M_wan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035260"/>
            <a:ext cx="3017520" cy="237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55480" y="2148840"/>
            <a:ext cx="19659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1">
                <a:solidFill>
                  <a:srgbClr val="B42318"/>
                </a:solidFill>
                <a:latin typeface="Arial"/>
              </a:rPr>
              <a:t>M  ·  30 atoms</a:t>
            </a:r>
          </a:p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0">
                <a:solidFill>
                  <a:srgbClr val="17202A"/>
                </a:solidFill>
                <a:latin typeface="Arial"/>
              </a:rPr>
              <a:t>Every pair wants 5 to 7 µm. Each atom wants 11 partners that close.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0">
                <a:solidFill>
                  <a:srgbClr val="17202A"/>
                </a:solidFill>
                <a:latin typeface="Arial"/>
              </a:rPr>
              <a:t>A plane at 5 µm spacing fits about 6 neighbours that close. </a:t>
            </a:r>
          </a:p>
          <a:p>
            <a:pPr algn="l">
              <a:lnSpc>
                <a:spcPct val="115000"/>
              </a:lnSpc>
              <a:spcAft>
                <a:spcPts val="472"/>
              </a:spcAft>
            </a:pPr>
            <a:r>
              <a:rPr sz="1350" b="1">
                <a:solidFill>
                  <a:srgbClr val="B42318"/>
                </a:solidFill>
                <a:latin typeface="Arial"/>
              </a:rPr>
              <a:t>Measured: the true optimum ranks ≈ 10⁴ of 59 049; η ≈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A1 + A3, REVISED  ·  MODEL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Change the question: the atom map is the customer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Brief §4.1: “avoid the inequality altogether by changing what the model asks for.”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Track A  ·  DuQuantum × Pasqal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6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7"/>
              </a:spcAft>
            </a:pPr>
            <a:r>
              <a:rPr sz="1450" b="1">
                <a:solidFill>
                  <a:srgbClr val="17202A"/>
                </a:solidFill>
                <a:latin typeface="Arial"/>
              </a:rPr>
              <a:t>xᵢ = 1  ⇔  customer i anchors a truck.  </a:t>
            </a:r>
            <a:r>
              <a:rPr sz="1450" b="0">
                <a:solidFill>
                  <a:srgbClr val="5E6A78"/>
                </a:solidFill>
                <a:latin typeface="Arial"/>
              </a:rPr>
              <a:t>N atoms: 4 / 10 / 15.</a:t>
            </a:r>
          </a:p>
        </p:txBody>
      </p:sp>
      <p:pic>
        <p:nvPicPr>
          <p:cNvPr id="8" name="Picture 7" descr="eq_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3846576" cy="78943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429000"/>
          <a:ext cx="576072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00200"/>
                <a:gridCol w="2011680"/>
                <a:gridCol w="105156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E6A78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E6A78"/>
                          </a:solidFill>
                          <a:latin typeface="Arial"/>
                        </a:rPr>
                        <a:t>model B wants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E6A78"/>
                          </a:solidFill>
                          <a:latin typeface="Arial"/>
                        </a:rPr>
                        <a:t>Pasqal gives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E6A78"/>
                          </a:solidFill>
                          <a:latin typeface="Arial"/>
                        </a:rPr>
                        <a:t>match?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per atom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the same −δ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−δ, the same for 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7B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per pair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C₆ / (α dᵢⱼ)⁶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C₆ / r⁶ at r = α dᵢⱼ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7B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202A"/>
                          </a:solidFill>
                          <a:latin typeface="Arial"/>
                        </a:rPr>
                        <a:t>not in the energy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D4E89"/>
                          </a:solidFill>
                          <a:latin typeface="Arial"/>
                        </a:rPr>
                        <a:t>decode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21208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17202A"/>
                </a:solidFill>
                <a:latin typeface="Arial"/>
              </a:rPr>
              <a:t>Close customers block each other, so the lowest energy picks K spread-out seeds. 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5E6A78"/>
                </a:solidFill>
                <a:latin typeface="Arial"/>
              </a:rPr>
              <a:t>Then every other customer joins the nearest group with room (light decode, classical, O(N²K)). </a:t>
            </a:r>
          </a:p>
        </p:txBody>
      </p:sp>
      <p:pic>
        <p:nvPicPr>
          <p:cNvPr id="11" name="Picture 10" descr="s6_model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66245"/>
            <a:ext cx="5166360" cy="24741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57150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5E6A78"/>
                </a:solidFill>
                <a:latin typeface="Arial"/>
              </a:rPr>
              <a:t>M_seed0: η = 0.72;  12 of 120 seed sets decode to the optimum.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A4  · 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Pulse: Ω and duration per tier, final δ per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Standard adiabatic sweep. Every sequence is built and checked by Pulser against AnalogDevice.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Track A  ·  DuQuantum × Pasqal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7 / 8</a:t>
            </a:r>
          </a:p>
        </p:txBody>
      </p:sp>
      <p:pic>
        <p:nvPicPr>
          <p:cNvPr id="7" name="Picture 6" descr="s7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6649"/>
            <a:ext cx="5852160" cy="33819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57784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5E6A78"/>
                </a:solidFill>
                <a:latin typeface="Arial"/>
              </a:rPr>
              <a:t>S_seed0 as run: Ωmax = 7.36 rad/µs, T = 4000 ns, δ: -14.7 → 19.9 rad/µs.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874519"/>
          <a:ext cx="502920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828800"/>
                <a:gridCol w="1965960"/>
              </a:tblGrid>
              <a:tr h="5303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5E6A78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5E6A78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5E6A78"/>
                          </a:solidFill>
                          <a:latin typeface="Arial"/>
                        </a:rPr>
                        <a:t>how we set it</a:t>
                      </a:r>
                    </a:p>
                  </a:txBody>
                  <a:tcPr marL="73152" marR="73152" marT="27432" marB="27432" anchor="ctr">
                    <a:solidFill>
                      <a:srgbClr val="E9EE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final 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the per-atom term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midpoint of the window where exactly K seeds is lowest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Ω (strength)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lets atoms flip; sets the blockade radius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grid per tier: radius ∈ {7, 9, 12} µm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duration 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longer = closer to the best 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grid per tier: {2000, 4000, 6000} 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δ scale c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fine-tunes the final δ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grid per instance: c ∈ {0.7, 1.0, 1.3}</a:t>
                      </a:r>
                    </a:p>
                  </a:txBody>
                  <a:tcPr marL="73152" marR="73152" marT="27432" marB="27432" anchor="ctr"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shots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more = more reliable rates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A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29400" y="52578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5E6A78"/>
                </a:solidFill>
                <a:latin typeface="Arial"/>
              </a:rPr>
              <a:t>Selection score: share of shots that hit the optimum, then best gap, then feasibility (brief §8.2: reward good shots, not the mean).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2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RESULTS  ·  WHAT WORKED, WHAT DID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79"/>
              </a:spcAft>
            </a:pPr>
            <a:r>
              <a:rPr sz="2800" b="1">
                <a:solidFill>
                  <a:srgbClr val="17202A"/>
                </a:solidFill>
                <a:latin typeface="Arial"/>
              </a:rPr>
              <a:t>Tier S is too small to beat chance; M and L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42"/>
              </a:spcAft>
            </a:pPr>
            <a:r>
              <a:rPr sz="1550" b="0">
                <a:solidFill>
                  <a:srgbClr val="5E6A78"/>
                </a:solidFill>
                <a:latin typeface="Arial"/>
              </a:rPr>
              <a:t>S has only 6 seed sets, so random picks already hit the optimum 33–67 % of the time. 1000 shots, global detuning unless 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B42318"/>
                </a:solidFill>
                <a:latin typeface="Arial"/>
              </a:rPr>
              <a:t>Track A  ·  DuQuantum × Pasqal   ·   tiers M, L still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32"/>
              </a:spcAft>
            </a:pPr>
            <a:r>
              <a:rPr sz="950" b="0">
                <a:solidFill>
                  <a:srgbClr val="A3ADB8"/>
                </a:solidFill>
                <a:latin typeface="Arial"/>
              </a:rPr>
              <a:t>8 / 8</a:t>
            </a:r>
          </a:p>
        </p:txBody>
      </p:sp>
      <p:pic>
        <p:nvPicPr>
          <p:cNvPr id="7" name="Picture 6" descr="s8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21" y="1783080"/>
            <a:ext cx="10502597" cy="3337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2578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B42318"/>
                </a:solidFill>
                <a:latin typeface="Arial"/>
              </a:rPr>
              <a:t>Did not work</a:t>
            </a:r>
          </a:p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0">
                <a:solidFill>
                  <a:srgbClr val="17202A"/>
                </a:solidFill>
                <a:latin typeface="Arial"/>
              </a:rPr>
              <a:t>Direct QUBO on M/L: no 2D layout reproduces it (η ≈ 1). Load-balance penalty loses up to 13.8 % before any quantum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2578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534924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B7791F"/>
                </a:solidFill>
                <a:latin typeface="Arial"/>
              </a:rPr>
              <a:t>Caveats</a:t>
            </a:r>
          </a:p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0">
                <a:solidFill>
                  <a:srgbClr val="17202A"/>
                </a:solidFill>
                <a:latin typeface="Arial"/>
              </a:rPr>
              <a:t>Light decode is order-sensitive (S·2: 0.4 % vs 96 % with exact decode). AI assisted code, figures and drafting; every number is from results/.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