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秒] 我们按自己的理解，把 challenge 拆成两个主要问题：A1 怎么设计 QUBO，以及 A3 怎么摆放 atoms，使 Pasqal 的 E equation 尽量接近我们的 loss。A2 是自动生成可行 instances 和 references；A4 是把模型接到 pulse 和 emulator。右边是真实变量数量：direct baseline 是 4/30/60，textbook slack 是 14/45/80。Model B 选择 seeds，用 4/10/15 atoms，但仍在测试，不能当作已验证的量子结果。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秒] A2 是支持步骤，快速讲完。S/M/L 的 N K Q 按比赛要求固定；locations 和 demands 从 seeds 生成。每个 instance 有 feasible certificate 和 validator，并报告 load ratio 和最大 demand ratio。图上是 seed0 certificates，下面是 repository 保存的 proven constrained model optima。三个 seeds 一共九个 instances，参考值通过 exact classical DP 得到，不能称为 quantum output。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[80 秒] 先定义我们真正想要的 loss：cluster function 越小越好；capacity 只要通过及格线，也就是每个 load 不超过 Q，就可以，不应继续追求更满或更平均。实际 direct baseline 使用 sum(L-D/K)^2 来省 slack，它会在 feasible 范围内继续奖励 balance，因此不完全符合我们想要的 pass/fail。这是明确的模型失真。M/L 还需要 assignment penalty，保证每个 customer exactly one vehicle。展开后每个 atom 前有一个 linear coefficient a，每对 atoms 有一个 coupling b，constant 不改变排序。下一页就将这两个 coefficient slots 和 Pasqal energy 对齐。S 使用二元 vehicle 标签，exactly-one assignment 自动满足。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[85 秒] 这页是主线的转折。上面是 scaled QUBO，下面是 Omega 回到零时 Pasqal 的 classical energy，每项按同样位置对齐。Green 表示 positive pair sign 与硬件一致，但不代表能精确 fit。Red 是 nonuniform linear coefficients 与 shared global detuning 的冲突。对 valid M/L one-hot assignments，这部分差异是常数，所以 valid states 的排序不会因这项而改变，但 invalid strings 的能量会变。另有 target-zero pairs，而 1/r6 永远 positive；以及每个 atom 想要太多相近强度的 partners，无法各自独立设置距离。我们不把 dense baseline 的问题归咎于 detuning，真正重要的是 jointly realizable geometry。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[95 秒] A3 控制 positions，A4 控制 Omega detuning duration。把一个 coupling 反推为一个 distance 很容易，但所有 distances 必须同时来自一张合法 2D layout。左图来自 M_seed0 真实 target coefficients：目标距离挤在窄范围。PLAN 第六节记录 dense baseline approximate results：M 的 model optimum 在 59049 个 assignment-valid states 中落到大约一万名，eta 大约一。59049 是 3 的十次方，包括 capacity-infeasible assignments；不要说成全都 capacity-feasible。这里是日志摘要，不是本轮重跑。PLAN 仍在写 sparsification，代码新加 seeds.py；所以 Model B 是 next direction under test。量子部分选 spread-out seeds，classical capacity-aware nearest-fit decoder 分配其他 customers，失败计入 feasibility。Expected feasible loss = sum over feasible x of p(x|positions,pulse)*cluster_cost(decode(x)) 除以 feasibility probability。不能把 embedding eta 当作 expected clustering loss。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秒] A4 讲短一些。Amplitude 和 duration 先在 tier 内固定，proposed starting policy 都用 10 rad/us 和 4000 ns，不是假装已经找到 optimal settings。每个 instance final detuning 根据 mapping 来，direct model 以 minus s mean(a) 为中心，提出 0.8/1/1.2 grid。Seed model 以 candidate K-excitation window 为范围，但必须 full bitstring 检查 cardinality，不能仅看相邻 excitation numbers 就保证 ground state。Initial detuning 是负 0.5/1/1.5 倍 Omega。这是待跑的 search settings，不是实测最佳值。所有参数必须实际通过 Pulser validation。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秒] 上面是明确标记的 mock performance：feasibility rate、model gap、CVRP gap，只是 placeholders，不是 EMU measurements，也不是 Model B 预测。正式结果按模型分别报告 atom count、reference-hit probability、embedding error、emulator settings。真实 failure example 是 M_seed2，balance surrogate 让 clustering objective 从 329.21 到 374.60，多 13.8%，发生在任何量子运行之前。Model B 要和 random K-seed sampler 用同一个 light decoder 对照，明确 classical work。AI 帮助 code、figures 和 draft，团队负责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What QUBO? Where do the atoms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One variable = one atom. A1 designs the loss; A3 makes Pasqal’s E equation approximate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MODEL / CLASSICAL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245B94"/>
                </a:solidFill>
                <a:latin typeface="Arial"/>
              </a:defRPr>
            </a:pPr>
            <a:r>
              <a:t>A1 — design the QUBO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4292F"/>
                </a:solidFill>
                <a:latin typeface="Arial"/>
              </a:defRPr>
            </a:pPr>
            <a:r>
              <a:t>Cluster function: optimize.</a:t>
            </a:r>
          </a:p>
          <a:p>
            <a:pPr>
              <a:spcAft>
                <a:spcPts val="900"/>
              </a:spcAft>
              <a:defRPr sz="2300" b="0">
                <a:solidFill>
                  <a:srgbClr val="24292F"/>
                </a:solidFill>
                <a:latin typeface="Arial"/>
              </a:defRPr>
            </a:pPr>
            <a:r>
              <a:t>Capacity: meet the passing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245B94"/>
                </a:solidFill>
                <a:latin typeface="Arial"/>
              </a:defRPr>
            </a:pPr>
            <a:r>
              <a:t>A3 — choose atom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4292F"/>
                </a:solidFill>
                <a:latin typeface="Arial"/>
              </a:defRPr>
            </a:pPr>
            <a:r>
              <a:t>Minimize disagreement between</a:t>
            </a:r>
          </a:p>
          <a:p>
            <a:pPr>
              <a:spcAft>
                <a:spcPts val="900"/>
              </a:spcAft>
              <a:defRPr sz="2300" b="0">
                <a:solidFill>
                  <a:srgbClr val="24292F"/>
                </a:solidFill>
                <a:latin typeface="Arial"/>
              </a:defRPr>
            </a:pPr>
            <a:r>
              <a:t>our QUBO and the machine’s energy.</a:t>
            </a:r>
          </a:p>
        </p:txBody>
      </p:sp>
      <p:pic>
        <p:nvPicPr>
          <p:cNvPr id="13" name="Picture 12" descr="01_atom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30980"/>
            <a:ext cx="7406640" cy="37563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Workflow: A2 instances → A1 loss → A3 atom distances → A4 pulse. Model B counts are a direction under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A2 —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Instances come with a feasible answer and a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A2 is automated: seeded generation → certificate → validator → exact classical reference.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MODEL / CLASSICAL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2 / 7</a:t>
            </a:r>
          </a:p>
        </p:txBody>
      </p:sp>
      <p:pic>
        <p:nvPicPr>
          <p:cNvPr id="9" name="Picture 8" descr="02_certified_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941" y="2468880"/>
            <a:ext cx="9736516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03504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45B94"/>
                </a:solidFill>
                <a:latin typeface="Arial"/>
              </a:defRPr>
            </a:pPr>
            <a:r>
              <a:t>S_seed0  |  C* = 110.14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56539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Proven constrained clustering optimum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603504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45B94"/>
                </a:solidFill>
                <a:latin typeface="Arial"/>
              </a:defRPr>
            </a:pPr>
            <a:r>
              <a:t>M_seed0  |  C* = 353.04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656539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Proven constrained clustering optimum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603504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45B94"/>
                </a:solidFill>
                <a:latin typeface="Arial"/>
              </a:defRPr>
            </a:pPr>
            <a:r>
              <a:t>L_seed0  |  C* = 475.36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656539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Proven constrained clustering optimum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3 seeds per tier (0, 1, 2); maps show certificates, not EMU outputs. Depot fixed at (50, 50).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A1 —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Cluster: optimize. Capacity: pass the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The desired constraint is Lₖ ≤ Q. Our direct QUBO uses load balance as a slack-free surrogate.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MODEL / CLASSICAL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3 / 7</a:t>
            </a:r>
          </a:p>
        </p:txBody>
      </p:sp>
      <p:pic>
        <p:nvPicPr>
          <p:cNvPr id="9" name="Picture 8" descr="03_loss_and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54" y="2450592"/>
            <a:ext cx="11245491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65392"/>
            <a:ext cx="1280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5B94"/>
                </a:solidFill>
                <a:latin typeface="Arial"/>
              </a:defRPr>
            </a:pPr>
            <a:r>
              <a:t>aₐ = constant per atom   |   bₐᵦ = constant per atom pair   |   assignment: exactly one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B5443C"/>
                </a:solidFill>
                <a:latin typeface="Arial"/>
              </a:defRPr>
            </a:pPr>
            <a:r>
              <a:t>M/L one-hot model shown; S uses one bit/customer. Balance still penalizes unequal feasible loads: it is not a flat pass/fail penalty.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A1 → A3 — THE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Which QUBO terms fit Pasqal’s E equation?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Same two slots: a constant per atom and an interaction per atom pair. Color identifies the inconsistency.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MODEL / CLASSICAL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4 / 7</a:t>
            </a:r>
          </a:p>
        </p:txBody>
      </p:sp>
      <p:pic>
        <p:nvPicPr>
          <p:cNvPr id="9" name="Picture 8" descr="04_qubo_vs_pasq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06" y="2423160"/>
            <a:ext cx="10342586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715000"/>
            <a:ext cx="4069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805D"/>
                </a:solidFill>
                <a:latin typeface="Arial"/>
              </a:defRPr>
            </a:pPr>
            <a:r>
              <a:t>MATCH: positive pair sign.</a:t>
            </a:r>
          </a:p>
          <a:p>
            <a:pPr>
              <a:spcAft>
                <a:spcPts val="900"/>
              </a:spcAft>
              <a:defRPr sz="2000" b="1">
                <a:solidFill>
                  <a:srgbClr val="26805D"/>
                </a:solidFill>
                <a:latin typeface="Arial"/>
              </a:defRPr>
            </a:pPr>
            <a:r>
              <a:t>Values still need a joint 2D 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715000"/>
            <a:ext cx="41605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5443C"/>
                </a:solidFill>
                <a:latin typeface="Arial"/>
              </a:defRPr>
            </a:pPr>
            <a:r>
              <a:t>MISMATCH: nonuniform aₐ</a:t>
            </a:r>
          </a:p>
          <a:p>
            <a:pPr>
              <a:spcAft>
                <a:spcPts val="900"/>
              </a:spcAft>
              <a:defRPr sz="2000" b="1">
                <a:solidFill>
                  <a:srgbClr val="B5443C"/>
                </a:solidFill>
                <a:latin typeface="Arial"/>
              </a:defRPr>
            </a:pPr>
            <a:r>
              <a:t>versus one global −δ.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5715000"/>
            <a:ext cx="4297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5443C"/>
                </a:solidFill>
                <a:latin typeface="Arial"/>
              </a:defRPr>
            </a:pPr>
            <a:r>
              <a:t>MISMATCH: target-zero pairs</a:t>
            </a:r>
          </a:p>
          <a:p>
            <a:pPr>
              <a:spcAft>
                <a:spcPts val="900"/>
              </a:spcAft>
              <a:defRPr sz="2000" b="1">
                <a:solidFill>
                  <a:srgbClr val="B5443C"/>
                </a:solidFill>
                <a:latin typeface="Arial"/>
              </a:defRPr>
            </a:pPr>
            <a:r>
              <a:t>and many strong partners.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M/L: linear mismatch is constant on valid one-hot assignments, but changes invalid states. This does not hold for 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A3 — ATOM DISTANCE &amp; EXPECTED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Fit the energy ranking, not just each distance.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rₐᵦ* = (C₆ / Uₐᵦ*)¹⁄⁶, with U* = s b. Minimum spacing 5 µm; register radius ≤ 38 µm.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MODEL / CLASSICAL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5 / 7</a:t>
            </a:r>
          </a:p>
        </p:txBody>
      </p:sp>
      <p:pic>
        <p:nvPicPr>
          <p:cNvPr id="9" name="Picture 8" descr="05_requested_atom_di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98177"/>
            <a:ext cx="6400800" cy="27270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26974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B5443C"/>
                </a:solidFill>
                <a:latin typeface="Arial"/>
              </a:defRPr>
            </a:pPr>
            <a:r>
              <a:t>Dense baseline: a measured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364992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PLAN §6 reports M ranks ≈10⁴ / 59,049</a:t>
            </a:r>
          </a:p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assignment-valid states; coupling error η ≈ 1.</a:t>
            </a:r>
          </a:p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Approximate logged findings, not new runs.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754880"/>
            <a:ext cx="62179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5B94"/>
                </a:solidFill>
                <a:latin typeface="Arial"/>
              </a:defRPr>
            </a:pPr>
            <a:r>
              <a:t>Next: model B — N seed atoms.</a:t>
            </a:r>
          </a:p>
          <a:p>
            <a:pPr>
              <a:spcAft>
                <a:spcPts val="900"/>
              </a:spcAft>
              <a:defRPr sz="2000" b="0">
                <a:solidFill>
                  <a:srgbClr val="245B94"/>
                </a:solidFill>
                <a:latin typeface="Arial"/>
              </a:defRPr>
            </a:pPr>
            <a:r>
              <a:t>Energy selects spread-out seeds.</a:t>
            </a:r>
          </a:p>
          <a:p>
            <a:pPr>
              <a:spcAft>
                <a:spcPts val="900"/>
              </a:spcAft>
              <a:defRPr sz="2000" b="0">
                <a:solidFill>
                  <a:srgbClr val="245B94"/>
                </a:solidFill>
                <a:latin typeface="Arial"/>
              </a:defRPr>
            </a:pPr>
            <a:r>
              <a:t>Nearest-fit decode checks capacity.</a:t>
            </a:r>
          </a:p>
          <a:p>
            <a:pPr>
              <a:spcAft>
                <a:spcPts val="900"/>
              </a:spcAft>
              <a:defRPr sz="2000" b="0">
                <a:solidFill>
                  <a:srgbClr val="245B94"/>
                </a:solidFill>
                <a:latin typeface="Arial"/>
              </a:defRPr>
            </a:pPr>
            <a:r>
              <a:t>Compare against random K-seed sets.</a:t>
            </a:r>
          </a:p>
        </p:txBody>
      </p:sp>
      <p:pic>
        <p:nvPicPr>
          <p:cNvPr id="13" name="Picture 12" descr="05_expecte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144" y="6355080"/>
            <a:ext cx="3720670" cy="5760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M_seed0: baseline target distances and Pulser-valid model B trial layout. No EMU result; report P(F)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A4 — FIGURING OUT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Fix amplitude and duration; tune detuning per instance.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Proposed search policy, not completed optimization. All candidates must pass Pulser device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DuQuantum × Pasqal  |  PROPOSED PULSE / NO NEW EMU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6 / 7</a:t>
            </a:r>
          </a:p>
        </p:txBody>
      </p:sp>
      <p:pic>
        <p:nvPicPr>
          <p:cNvPr id="9" name="Picture 8" descr="06_proposed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8651"/>
            <a:ext cx="7498079" cy="3883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45B94"/>
                </a:solidFill>
                <a:latin typeface="Arial"/>
              </a:defRPr>
            </a:pPr>
            <a:r>
              <a:t>Fixed within each tier — proposed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33756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292F"/>
                </a:solidFill>
                <a:latin typeface="Arial"/>
              </a:defRPr>
            </a:pPr>
            <a:r>
              <a:t>Ωpeak = 10 rad/µs; T = 4,000 ns</a:t>
            </a:r>
          </a:p>
          <a:p>
            <a:pPr>
              <a:spcAft>
                <a:spcPts val="900"/>
              </a:spcAft>
              <a:defRPr sz="2000" b="0">
                <a:solidFill>
                  <a:srgbClr val="24292F"/>
                </a:solidFill>
                <a:latin typeface="Arial"/>
              </a:defRPr>
            </a:pPr>
            <a:r>
              <a:t>Starting policy shared across S/M/L.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23367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45B94"/>
                </a:solidFill>
                <a:latin typeface="Arial"/>
              </a:defRPr>
            </a:pPr>
            <a:r>
              <a:t>Per-instance detuning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84632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4292F"/>
                </a:solidFill>
                <a:latin typeface="Arial"/>
              </a:defRPr>
            </a:pPr>
            <a:r>
              <a:t>Direct: δf = {0.8, 1, 1.2} × δmap</a:t>
            </a:r>
          </a:p>
          <a:p>
            <a:pPr>
              <a:spcAft>
                <a:spcPts val="900"/>
              </a:spcAft>
              <a:defRPr sz="1900" b="0">
                <a:solidFill>
                  <a:srgbClr val="24292F"/>
                </a:solidFill>
                <a:latin typeface="Arial"/>
              </a:defRPr>
            </a:pPr>
            <a:r>
              <a:t>Seeds: grid inside candidate K window</a:t>
            </a:r>
          </a:p>
          <a:p>
            <a:pPr>
              <a:spcAft>
                <a:spcPts val="900"/>
              </a:spcAft>
              <a:defRPr sz="1900" b="0">
                <a:solidFill>
                  <a:srgbClr val="24292F"/>
                </a:solidFill>
                <a:latin typeface="Arial"/>
              </a:defRPr>
            </a:pPr>
            <a:r>
              <a:t>δ₀ = −{0.5, 1, 1.5} × Ωpeak</a:t>
            </a:r>
          </a:p>
          <a:p>
            <a:pPr>
              <a:spcAft>
                <a:spcPts val="900"/>
              </a:spcAft>
              <a:defRPr sz="1900" b="0">
                <a:solidFill>
                  <a:srgbClr val="24292F"/>
                </a:solidFill>
                <a:latin typeface="Arial"/>
              </a:defRPr>
            </a:pPr>
            <a:r>
              <a:t>Check range and sequence legality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Shown: Pulser-constructed M_seed0 direct candidate, δf = −s mean(a). Seed-window cardinality needs a full-state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45B94"/>
                </a:solidFill>
                <a:latin typeface="Arial"/>
              </a:defRPr>
            </a:pPr>
            <a:r>
              <a:t>TRACK A  |  RESULTS / WHAT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344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292F"/>
                </a:solidFill>
                <a:latin typeface="Arial"/>
              </a:defRPr>
            </a:pPr>
            <a:r>
              <a:t>Report feasibility, model gap, CVRP gap and atoms.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344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9616A"/>
                </a:solidFill>
                <a:latin typeface="Arial"/>
              </a:defRPr>
            </a:pPr>
            <a:r>
              <a:t>MOCK performance until real EMU output exists. Keep direct QUBO and seed model B results separate.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7635240"/>
            <a:ext cx="13441680" cy="16459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1216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5443C"/>
                </a:solidFill>
                <a:latin typeface="Arial"/>
              </a:defRPr>
            </a:pPr>
            <a:r>
              <a:t>DuQuantum × Pasqal  |  MOCK PERFORMANCE — REPLACE BEFORE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818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9616A"/>
                </a:solidFill>
                <a:latin typeface="Arial"/>
              </a:defRPr>
            </a:pPr>
            <a:r>
              <a:t>7 / 7</a:t>
            </a:r>
          </a:p>
        </p:txBody>
      </p:sp>
      <p:pic>
        <p:nvPicPr>
          <p:cNvPr id="9" name="Picture 8" descr="07_MOCK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08" y="2514600"/>
            <a:ext cx="11676983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852160"/>
            <a:ext cx="6080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B5443C"/>
                </a:solidFill>
                <a:latin typeface="Arial"/>
              </a:defRPr>
            </a:pPr>
            <a:r>
              <a:t>Known direct-model limit: M_seed2</a:t>
            </a:r>
          </a:p>
          <a:p>
            <a:pPr>
              <a:spcAft>
                <a:spcPts val="900"/>
              </a:spcAft>
              <a:defRPr sz="2100" b="1">
                <a:solidFill>
                  <a:srgbClr val="B5443C"/>
                </a:solidFill>
                <a:latin typeface="Arial"/>
              </a:defRPr>
            </a:pPr>
            <a:r>
              <a:t>329.21 → 374.60 clustering cost (+13.8%).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85216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5B94"/>
                </a:solidFill>
                <a:latin typeface="Arial"/>
              </a:defRPr>
            </a:pPr>
            <a:r>
              <a:t>Atoms A: 4 / 30 / 60; B: 4 / 10 / 15.</a:t>
            </a:r>
          </a:p>
          <a:p>
            <a:pPr>
              <a:spcAft>
                <a:spcPts val="900"/>
              </a:spcAft>
              <a:defRPr sz="2100" b="0">
                <a:solidFill>
                  <a:srgbClr val="245B94"/>
                </a:solidFill>
                <a:latin typeface="Arial"/>
              </a:defRPr>
            </a:pPr>
            <a:r>
              <a:t>B needs random-seed baseline + decode 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114032"/>
            <a:ext cx="1312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16A"/>
                </a:solidFill>
                <a:latin typeface="Arial"/>
              </a:defRPr>
            </a:pPr>
            <a:r>
              <a:t>MOCK: means and min–max across 3 seeds. CVRP gap uses exact classical routing. AI assisted code, figures and drafting.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